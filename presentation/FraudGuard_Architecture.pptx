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FRAUDGUARD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Data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02920"/>
            <a:ext cx="4114800" cy="123444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502920"/>
            <a:ext cx="64008" cy="123444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503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612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$485B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577840" y="1124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fraud globally per year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11680"/>
            <a:ext cx="4114800" cy="123444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11680"/>
            <a:ext cx="64008" cy="123444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5915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5577840" y="2633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latency to flag a transaction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520440"/>
            <a:ext cx="4114800" cy="123444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3520440"/>
            <a:ext cx="64008" cy="123444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86791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3630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5577840" y="4142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 per day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548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FraudGuard processes millions of payments in real-time, using streaming pipelines and ML to catch fraud before it happens.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868680"/>
            <a:ext cx="1645920" cy="4023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868680"/>
            <a:ext cx="1645920" cy="10972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" y="1581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9456" y="210312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" y="210312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9456" y="274320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" y="274320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" y="338328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13" name="Text 10"/>
          <p:cNvSpPr/>
          <p:nvPr/>
        </p:nvSpPr>
        <p:spPr>
          <a:xfrm>
            <a:off x="219456" y="338328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9456" y="402336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15" name="Text 12"/>
          <p:cNvSpPr/>
          <p:nvPr/>
        </p:nvSpPr>
        <p:spPr>
          <a:xfrm>
            <a:off x="219456" y="4023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83080" y="283464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83080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911096" y="868680"/>
            <a:ext cx="1645920" cy="4023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11096" y="868680"/>
            <a:ext cx="1645920" cy="109728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05156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56816" y="1581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20824" y="210312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23" name="Text 19"/>
          <p:cNvSpPr/>
          <p:nvPr/>
        </p:nvSpPr>
        <p:spPr>
          <a:xfrm>
            <a:off x="2020824" y="210312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020824" y="274320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25" name="Text 21"/>
          <p:cNvSpPr/>
          <p:nvPr/>
        </p:nvSpPr>
        <p:spPr>
          <a:xfrm>
            <a:off x="2020824" y="274320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020824" y="338328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27" name="Text 23"/>
          <p:cNvSpPr/>
          <p:nvPr/>
        </p:nvSpPr>
        <p:spPr>
          <a:xfrm>
            <a:off x="2020824" y="338328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(Debezium)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020824" y="402336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29" name="Text 25"/>
          <p:cNvSpPr/>
          <p:nvPr/>
        </p:nvSpPr>
        <p:spPr>
          <a:xfrm>
            <a:off x="2020824" y="4023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584448" y="283464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84448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712464" y="868680"/>
            <a:ext cx="1645920" cy="4023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712464" y="868680"/>
            <a:ext cx="1645920" cy="109728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05156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758184" y="1581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822192" y="210312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37" name="Text 32"/>
          <p:cNvSpPr/>
          <p:nvPr/>
        </p:nvSpPr>
        <p:spPr>
          <a:xfrm>
            <a:off x="3822192" y="210312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822192" y="274320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39" name="Text 34"/>
          <p:cNvSpPr/>
          <p:nvPr/>
        </p:nvSpPr>
        <p:spPr>
          <a:xfrm>
            <a:off x="3822192" y="274320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Batch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822192" y="338328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41" name="Text 36"/>
          <p:cNvSpPr/>
          <p:nvPr/>
        </p:nvSpPr>
        <p:spPr>
          <a:xfrm>
            <a:off x="3822192" y="338328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3822192" y="402336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43" name="Text 38"/>
          <p:cNvSpPr/>
          <p:nvPr/>
        </p:nvSpPr>
        <p:spPr>
          <a:xfrm>
            <a:off x="3822192" y="4023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385816" y="283464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385816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1"/>
          <p:cNvSpPr/>
          <p:nvPr/>
        </p:nvSpPr>
        <p:spPr>
          <a:xfrm>
            <a:off x="5513832" y="868680"/>
            <a:ext cx="1645920" cy="4023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513832" y="868680"/>
            <a:ext cx="1645920" cy="10972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051560"/>
            <a:ext cx="457200" cy="45720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559552" y="1581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5623560" y="210312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51" name="Text 45"/>
          <p:cNvSpPr/>
          <p:nvPr/>
        </p:nvSpPr>
        <p:spPr>
          <a:xfrm>
            <a:off x="5623560" y="210312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5623560" y="274320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53" name="Text 47"/>
          <p:cNvSpPr/>
          <p:nvPr/>
        </p:nvSpPr>
        <p:spPr>
          <a:xfrm>
            <a:off x="5623560" y="274320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5623560" y="338328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55" name="Text 49"/>
          <p:cNvSpPr/>
          <p:nvPr/>
        </p:nvSpPr>
        <p:spPr>
          <a:xfrm>
            <a:off x="5623560" y="338328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5623560" y="402336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57" name="Text 51"/>
          <p:cNvSpPr/>
          <p:nvPr/>
        </p:nvSpPr>
        <p:spPr>
          <a:xfrm>
            <a:off x="5623560" y="4023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7187184" y="283464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7187184" y="2651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0" name="Shape 54"/>
          <p:cNvSpPr/>
          <p:nvPr/>
        </p:nvSpPr>
        <p:spPr>
          <a:xfrm>
            <a:off x="7315200" y="868680"/>
            <a:ext cx="1645920" cy="4023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7315200" y="868680"/>
            <a:ext cx="1645920" cy="109728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051560"/>
            <a:ext cx="457200" cy="45720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7360920" y="1581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7424928" y="210312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65" name="Text 58"/>
          <p:cNvSpPr/>
          <p:nvPr/>
        </p:nvSpPr>
        <p:spPr>
          <a:xfrm>
            <a:off x="7424928" y="210312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SQL</a:t>
            </a:r>
            <a:endParaRPr lang="en-US" sz="1100" dirty="0"/>
          </a:p>
        </p:txBody>
      </p:sp>
      <p:sp>
        <p:nvSpPr>
          <p:cNvPr id="66" name="Shape 59"/>
          <p:cNvSpPr/>
          <p:nvPr/>
        </p:nvSpPr>
        <p:spPr>
          <a:xfrm>
            <a:off x="7424928" y="274320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67" name="Text 60"/>
          <p:cNvSpPr/>
          <p:nvPr/>
        </p:nvSpPr>
        <p:spPr>
          <a:xfrm>
            <a:off x="7424928" y="274320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68" name="Shape 61"/>
          <p:cNvSpPr/>
          <p:nvPr/>
        </p:nvSpPr>
        <p:spPr>
          <a:xfrm>
            <a:off x="7424928" y="338328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69" name="Text 62"/>
          <p:cNvSpPr/>
          <p:nvPr/>
        </p:nvSpPr>
        <p:spPr>
          <a:xfrm>
            <a:off x="7424928" y="338328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70" name="Shape 63"/>
          <p:cNvSpPr/>
          <p:nvPr/>
        </p:nvSpPr>
        <p:spPr>
          <a:xfrm>
            <a:off x="7424928" y="4023360"/>
            <a:ext cx="1426464" cy="475488"/>
          </a:xfrm>
          <a:prstGeom prst="rect">
            <a:avLst/>
          </a:prstGeom>
          <a:solidFill>
            <a:srgbClr val="12294F"/>
          </a:solidFill>
          <a:ln/>
        </p:spPr>
      </p:sp>
      <p:sp>
        <p:nvSpPr>
          <p:cNvPr id="71" name="Text 64"/>
          <p:cNvSpPr/>
          <p:nvPr/>
        </p:nvSpPr>
        <p:spPr>
          <a:xfrm>
            <a:off x="7424928" y="4023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PATH  (&lt; 200ms)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90472" y="13898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82496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82496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82496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payments.raw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44368" y="13898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36392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36392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3136392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36392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98264" y="13898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90288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13898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44184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6044184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44184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scorer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06056" y="138988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0" y="114300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143000"/>
            <a:ext cx="1261872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12344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Allow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PATH  (every 1–6 hours)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90472" y="29443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682496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682496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3" name="Text 41"/>
          <p:cNvSpPr/>
          <p:nvPr/>
        </p:nvSpPr>
        <p:spPr>
          <a:xfrm>
            <a:off x="1682496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82496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44368" y="29443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136392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36392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8" name="Text 46"/>
          <p:cNvSpPr/>
          <p:nvPr/>
        </p:nvSpPr>
        <p:spPr>
          <a:xfrm>
            <a:off x="3136392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36392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98264" y="29443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590288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90288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3" name="Text 51"/>
          <p:cNvSpPr/>
          <p:nvPr/>
        </p:nvSpPr>
        <p:spPr>
          <a:xfrm>
            <a:off x="4590288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90288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storage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52160" y="29443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044184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44184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8" name="Text 56"/>
          <p:cNvSpPr/>
          <p:nvPr/>
        </p:nvSpPr>
        <p:spPr>
          <a:xfrm>
            <a:off x="6044184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044184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06056" y="29443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498080" y="2697480"/>
            <a:ext cx="1261872" cy="86868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98080" y="2697480"/>
            <a:ext cx="126187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3" name="Text 61"/>
          <p:cNvSpPr/>
          <p:nvPr/>
        </p:nvSpPr>
        <p:spPr>
          <a:xfrm>
            <a:off x="7498080" y="27889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498080" y="3246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pipeline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440" y="3840480"/>
            <a:ext cx="8961120" cy="1097280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" y="3840480"/>
            <a:ext cx="64008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Paths?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65760" y="42245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</a:t>
            </a:r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handles decisions that must happen before the transaction completes.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</a:t>
            </a:r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handles deep analysis, model retraining, and analytical queries — too expensive to run per-event.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82880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4297680" cy="73152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Kafka over a simple queue?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provides replay, partitioning, and fan-out — multiple consumers (Flink, S3 writer, audit log) read the same stream independently. Essential when &gt;1 system needs the same event.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822960"/>
            <a:ext cx="4297680" cy="182880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822960"/>
            <a:ext cx="4297680" cy="7315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058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Flink for real-time, not Spark Streaming?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has true event-time processing with sub-second latency. Spark Structured Streaming adds 1–2s micro-batch overhead — too slow for a 200ms fraud decision window.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82880" y="2880360"/>
            <a:ext cx="4297680" cy="182880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2880" y="2880360"/>
            <a:ext cx="4297680" cy="73152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0632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ClickHouse for the Data Warehouse?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2004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is a columnar OLAP DB that handles analytical queries on billions of rows in seconds. PostgreSQL would need expensive indexes and partitioning at this scale. Analysts get sub-second response times.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297680" cy="182880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880360"/>
            <a:ext cx="4297680" cy="73152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632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Redis for ML feature lookups?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50M tx/day, the ML model needs user behavioral features (avg spend, velocity, location). Redis serves these at &lt;1ms. A SQL query would add 20–50ms and create a bottleneck.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FUTURE EVOLUTION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834640" cy="411480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283464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Data Volume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add partitions horizontally, no code 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54864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39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Flink: scale task managers on Kubernetes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25496"/>
            <a:ext cx="54864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ClickHouse: shard by merchant_id across nodes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83864"/>
            <a:ext cx="54864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lake is already infinitely scalable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142232"/>
            <a:ext cx="54864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with read replicas for low-latency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82112" y="822960"/>
            <a:ext cx="2834640" cy="411480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822960"/>
            <a:ext cx="283464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/ Regions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73552" y="1508760"/>
            <a:ext cx="54864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 per product line isolate traffic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2167128"/>
            <a:ext cx="54864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3410712" y="2139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versioned — new transformations don't break existing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2825496"/>
            <a:ext cx="54864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add new feature sets without redeploying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3483864"/>
            <a:ext cx="54864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3410712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prevents breaking changes in Kafka events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4142232"/>
            <a:ext cx="54864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3410712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DAGs for new pipelines, independent deployment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822960"/>
            <a:ext cx="2834640" cy="4114800"/>
          </a:xfrm>
          <a:prstGeom prst="rect">
            <a:avLst/>
          </a:prstGeom>
          <a:solidFill>
            <a:srgbClr val="1229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822960"/>
            <a:ext cx="283464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960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72784" y="1508760"/>
            <a:ext cx="54864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1481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 + Confluent Schema Registry enforces compatibility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72784" y="2167128"/>
            <a:ext cx="54864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9944" y="2139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in ClickHouse preserves full history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72784" y="2825496"/>
            <a:ext cx="54864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9" name="Text 37"/>
          <p:cNvSpPr/>
          <p:nvPr/>
        </p:nvSpPr>
        <p:spPr>
          <a:xfrm>
            <a:off x="6409944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migrations handle warehouse schema evolution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72784" y="3483864"/>
            <a:ext cx="54864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versioning: new fields are optional + backward-compatible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72784" y="4142232"/>
            <a:ext cx="54864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3" name="Text 41"/>
          <p:cNvSpPr/>
          <p:nvPr/>
        </p:nvSpPr>
        <p:spPr>
          <a:xfrm>
            <a:off x="6409944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between teams prevent silent breaks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FraudGuard - Data Architecture</dc:title>
  <dc:subject>PptxGenJS Presentation</dc:subject>
  <dc:creator>PptxGenJS</dc:creator>
  <cp:lastModifiedBy>PptxGenJS</cp:lastModifiedBy>
  <cp:revision>1</cp:revision>
  <dcterms:created xsi:type="dcterms:W3CDTF">2026-03-12T14:30:21Z</dcterms:created>
  <dcterms:modified xsi:type="dcterms:W3CDTF">2026-03-12T14:30:21Z</dcterms:modified>
</cp:coreProperties>
</file>